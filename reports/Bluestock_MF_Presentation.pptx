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D185-A3E8-146E-6143-D20C67629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8916" y="-511278"/>
            <a:ext cx="10256002" cy="2265367"/>
          </a:xfrm>
        </p:spPr>
        <p:txBody>
          <a:bodyPr>
            <a:normAutofit/>
          </a:bodyPr>
          <a:lstStyle/>
          <a:p>
            <a:r>
              <a:rPr lang="en-US" sz="3600" b="1" dirty="0" err="1"/>
              <a:t>Bluestock</a:t>
            </a:r>
            <a:r>
              <a:rPr lang="en-US" sz="3600" b="1" dirty="0"/>
              <a:t> Mutual Fund Analytics Capstone Project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18EA3D-E8F9-4F95-EE2A-8279D5D687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920" y="1899049"/>
            <a:ext cx="8637072" cy="977621"/>
          </a:xfrm>
        </p:spPr>
        <p:txBody>
          <a:bodyPr>
            <a:noAutofit/>
          </a:bodyPr>
          <a:lstStyle/>
          <a:p>
            <a:r>
              <a:rPr lang="en-US" sz="2000" dirty="0"/>
              <a:t>Prepared By:</a:t>
            </a:r>
            <a:br>
              <a:rPr lang="en-US" sz="2000" dirty="0"/>
            </a:br>
            <a:r>
              <a:rPr lang="en-US" sz="2000" b="1" dirty="0"/>
              <a:t>Makarand Patil</a:t>
            </a:r>
            <a:endParaRPr lang="en-US" sz="2000" dirty="0"/>
          </a:p>
          <a:p>
            <a:r>
              <a:rPr lang="en-US" sz="2000" dirty="0"/>
              <a:t>Organization:</a:t>
            </a:r>
            <a:br>
              <a:rPr lang="en-US" sz="2000" dirty="0"/>
            </a:br>
            <a:r>
              <a:rPr lang="en-US" sz="2000" b="1" dirty="0" err="1"/>
              <a:t>Bluestock</a:t>
            </a:r>
            <a:r>
              <a:rPr lang="en-US" sz="2000" b="1" dirty="0"/>
              <a:t> Fintech Pvt. Ltd.</a:t>
            </a:r>
            <a:endParaRPr lang="en-US" sz="2000" dirty="0"/>
          </a:p>
          <a:p>
            <a:r>
              <a:rPr lang="en-US" sz="2000" dirty="0"/>
              <a:t>Technology Stack:</a:t>
            </a:r>
            <a:br>
              <a:rPr lang="en-US" sz="2000" dirty="0"/>
            </a:br>
            <a:r>
              <a:rPr lang="en-US" sz="2000" dirty="0"/>
              <a:t>Python | Pandas | SQL | SQLite | Power BI | Plotly</a:t>
            </a:r>
          </a:p>
          <a:p>
            <a:r>
              <a:rPr lang="en-US" sz="2000" dirty="0"/>
              <a:t>Date:</a:t>
            </a:r>
            <a:br>
              <a:rPr lang="en-US" sz="2000" dirty="0"/>
            </a:br>
            <a:r>
              <a:rPr lang="en-US" sz="2000" dirty="0"/>
              <a:t>June 2026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56577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FCB12-4A73-E3C8-2FDE-3C74CF785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057" y="867037"/>
            <a:ext cx="9603275" cy="1049235"/>
          </a:xfrm>
        </p:spPr>
        <p:txBody>
          <a:bodyPr/>
          <a:lstStyle/>
          <a:p>
            <a:r>
              <a:rPr lang="en-US" b="1" dirty="0"/>
              <a:t>Problem Statement &amp; Business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2F7FF-E2F7-3EA5-3B99-617F7E497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200" b="1" dirty="0"/>
              <a:t>Business Problem</a:t>
            </a:r>
          </a:p>
          <a:p>
            <a:r>
              <a:rPr lang="en-US" sz="1200" dirty="0"/>
              <a:t>The Indian Mutual Fund industry generates large volumes of NAV, AUM, SIP and investor transaction data. However:</a:t>
            </a:r>
          </a:p>
          <a:p>
            <a:r>
              <a:rPr lang="en-US" sz="1200" dirty="0"/>
              <a:t>• Data is fragmented across multiple sources.</a:t>
            </a:r>
            <a:br>
              <a:rPr lang="en-US" sz="1200" dirty="0"/>
            </a:br>
            <a:r>
              <a:rPr lang="en-US" sz="1200" dirty="0"/>
              <a:t>• Performance comparison between funds is difficult.</a:t>
            </a:r>
            <a:br>
              <a:rPr lang="en-US" sz="1200" dirty="0"/>
            </a:br>
            <a:r>
              <a:rPr lang="en-US" sz="1200" dirty="0"/>
              <a:t>• Risk-adjusted analytics are not readily available.</a:t>
            </a:r>
            <a:br>
              <a:rPr lang="en-US" sz="1200" dirty="0"/>
            </a:br>
            <a:r>
              <a:rPr lang="en-US" sz="1200" dirty="0"/>
              <a:t>• Investor behavior insights are limited.</a:t>
            </a:r>
            <a:br>
              <a:rPr lang="en-US" sz="1200" dirty="0"/>
            </a:br>
            <a:r>
              <a:rPr lang="en-US" sz="1200" dirty="0"/>
              <a:t>• Reporting is mostly static and time-consuming.</a:t>
            </a:r>
          </a:p>
          <a:p>
            <a:r>
              <a:rPr lang="en-US" sz="1200" b="1" dirty="0"/>
              <a:t>Project Objectives</a:t>
            </a:r>
          </a:p>
          <a:p>
            <a:r>
              <a:rPr lang="en-US" sz="1200" dirty="0"/>
              <a:t>Build an ETL pipeline for mutual fund data.</a:t>
            </a:r>
          </a:p>
          <a:p>
            <a:r>
              <a:rPr lang="en-US" sz="1200" dirty="0"/>
              <a:t>Create a centralized analytical database.</a:t>
            </a:r>
          </a:p>
          <a:p>
            <a:r>
              <a:rPr lang="en-US" sz="1200" dirty="0"/>
              <a:t>Perform Exploratory Data Analysis.</a:t>
            </a:r>
          </a:p>
          <a:p>
            <a:r>
              <a:rPr lang="en-US" sz="1200" dirty="0"/>
              <a:t>Calculate performance and risk metrics.</a:t>
            </a:r>
          </a:p>
          <a:p>
            <a:r>
              <a:rPr lang="en-US" sz="1200" dirty="0"/>
              <a:t>Build an interactive dashboard.</a:t>
            </a:r>
          </a:p>
          <a:p>
            <a:r>
              <a:rPr lang="en-US" sz="1200" dirty="0"/>
              <a:t>Generate actionable investment insights.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98481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1FEF2B-9C79-6A37-88EA-B75AFF51E006}"/>
              </a:ext>
            </a:extLst>
          </p:cNvPr>
          <p:cNvSpPr txBox="1"/>
          <p:nvPr/>
        </p:nvSpPr>
        <p:spPr>
          <a:xfrm>
            <a:off x="4682613" y="143867"/>
            <a:ext cx="61009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Data Sources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8BD7B1-2DEB-73F2-D4CF-377B48926F6E}"/>
              </a:ext>
            </a:extLst>
          </p:cNvPr>
          <p:cNvSpPr txBox="1"/>
          <p:nvPr/>
        </p:nvSpPr>
        <p:spPr>
          <a:xfrm>
            <a:off x="769374" y="982176"/>
            <a:ext cx="829596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Datasets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Fund Master Dataset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Scheme information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Fund category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Risk classification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NAV History Dataset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Daily NAV values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Historical performance tracking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AUM Dataset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Assets under management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AMC-level growth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SIP Inflow Dataset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Monthly SIP contributions</a:t>
            </a:r>
          </a:p>
        </p:txBody>
      </p:sp>
    </p:spTree>
    <p:extLst>
      <p:ext uri="{BB962C8B-B14F-4D97-AF65-F5344CB8AC3E}">
        <p14:creationId xmlns:p14="http://schemas.microsoft.com/office/powerpoint/2010/main" val="2452984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FA0A0-CDAD-FC58-982A-386D826A2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52" y="716028"/>
            <a:ext cx="11002297" cy="5094836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Investor Transactions Dataset</a:t>
            </a:r>
            <a:br>
              <a:rPr lang="en-US" sz="1600" dirty="0"/>
            </a:br>
            <a:r>
              <a:rPr lang="en-US" sz="1600" dirty="0"/>
              <a:t>SIP</a:t>
            </a:r>
            <a:br>
              <a:rPr lang="en-US" sz="1600" dirty="0"/>
            </a:br>
            <a:r>
              <a:rPr lang="en-US" sz="1600" dirty="0"/>
              <a:t>Lumpsum</a:t>
            </a:r>
            <a:br>
              <a:rPr lang="en-US" sz="1600" dirty="0"/>
            </a:br>
            <a:r>
              <a:rPr lang="en-US" sz="1600" dirty="0"/>
              <a:t>Redemption transactions</a:t>
            </a:r>
            <a:br>
              <a:rPr lang="en-US" sz="1600" dirty="0"/>
            </a:br>
            <a:r>
              <a:rPr lang="en-US" sz="1600" dirty="0"/>
              <a:t>Portfolio Holdings Dataset</a:t>
            </a:r>
            <a:br>
              <a:rPr lang="en-US" sz="1600" dirty="0"/>
            </a:br>
            <a:r>
              <a:rPr lang="en-US" sz="1600" dirty="0"/>
              <a:t>Sector allocations</a:t>
            </a:r>
            <a:br>
              <a:rPr lang="en-US" sz="1600" dirty="0"/>
            </a:br>
            <a:r>
              <a:rPr lang="en-US" sz="1600" dirty="0"/>
              <a:t>Portfolio concentration</a:t>
            </a:r>
            <a:br>
              <a:rPr lang="en-US" sz="1600" dirty="0"/>
            </a:br>
            <a:r>
              <a:rPr lang="en-US" sz="1600" dirty="0"/>
              <a:t>Benchmark Dataset</a:t>
            </a:r>
            <a:br>
              <a:rPr lang="en-US" sz="1600" dirty="0"/>
            </a:br>
            <a:r>
              <a:rPr lang="en-US" sz="1600" dirty="0"/>
              <a:t>NIFTY50</a:t>
            </a:r>
            <a:br>
              <a:rPr lang="en-US" sz="1600" dirty="0"/>
            </a:br>
            <a:r>
              <a:rPr lang="en-US" sz="1600" dirty="0"/>
              <a:t>NIFTY100</a:t>
            </a: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r>
              <a:rPr lang="en-US" sz="1600" b="1" dirty="0"/>
              <a:t>Dataset Scale</a:t>
            </a:r>
            <a:br>
              <a:rPr lang="en-US" sz="1600" b="1" dirty="0"/>
            </a:br>
            <a:r>
              <a:rPr lang="en-US" sz="1600" dirty="0"/>
              <a:t>• 40 Mutual Fund Schemes</a:t>
            </a:r>
            <a:br>
              <a:rPr lang="en-US" sz="1600" dirty="0"/>
            </a:br>
            <a:r>
              <a:rPr lang="en-US" sz="1600" dirty="0"/>
              <a:t>• 1000+ Investor Transactions</a:t>
            </a:r>
            <a:br>
              <a:rPr lang="en-US" sz="1600" dirty="0"/>
            </a:br>
            <a:r>
              <a:rPr lang="en-US" sz="1600" dirty="0"/>
              <a:t>• Multi-year NAV History</a:t>
            </a:r>
            <a:br>
              <a:rPr lang="en-US" sz="1600" dirty="0"/>
            </a:br>
            <a:r>
              <a:rPr lang="en-US" sz="1600" dirty="0"/>
              <a:t>• Multiple Market Benchmarks</a:t>
            </a: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Speaker Notes:</a:t>
            </a:r>
            <a:br>
              <a:rPr lang="en-US" sz="1600" dirty="0"/>
            </a:br>
            <a:r>
              <a:rPr lang="en-US" sz="1600" dirty="0"/>
              <a:t>These datasets collectively provide a comprehensive view of the mutual fund ecosystem, allowing both investor-level and scheme-level analysis.</a:t>
            </a:r>
            <a:br>
              <a:rPr lang="en-US" sz="16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34394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8BC3B5-475F-DA02-95B3-1B00F806BCF6}"/>
              </a:ext>
            </a:extLst>
          </p:cNvPr>
          <p:cNvSpPr txBox="1"/>
          <p:nvPr/>
        </p:nvSpPr>
        <p:spPr>
          <a:xfrm>
            <a:off x="474406" y="366764"/>
            <a:ext cx="10793362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System Architecture &amp; ETL Pipeline</a:t>
            </a:r>
          </a:p>
          <a:p>
            <a:r>
              <a:rPr lang="en-US" sz="1600" b="1" dirty="0"/>
              <a:t>Data Engineering Workflow</a:t>
            </a:r>
          </a:p>
          <a:p>
            <a:endParaRPr lang="en-US" sz="1600" b="1" dirty="0"/>
          </a:p>
          <a:p>
            <a:r>
              <a:rPr lang="en-US" sz="1600" dirty="0"/>
              <a:t>Data Sources</a:t>
            </a:r>
            <a:br>
              <a:rPr lang="en-US" sz="1600" dirty="0"/>
            </a:br>
            <a:r>
              <a:rPr lang="en-US" sz="1600" dirty="0"/>
              <a:t>↓</a:t>
            </a:r>
            <a:br>
              <a:rPr lang="en-US" sz="1600" dirty="0"/>
            </a:br>
            <a:r>
              <a:rPr lang="en-US" sz="1600" dirty="0"/>
              <a:t>Extract</a:t>
            </a:r>
            <a:br>
              <a:rPr lang="en-US" sz="1600" dirty="0"/>
            </a:br>
            <a:r>
              <a:rPr lang="en-US" sz="1600" dirty="0"/>
              <a:t>↓</a:t>
            </a:r>
            <a:br>
              <a:rPr lang="en-US" sz="1600" dirty="0"/>
            </a:br>
            <a:r>
              <a:rPr lang="en-US" sz="1600" dirty="0"/>
              <a:t>Transform</a:t>
            </a:r>
            <a:br>
              <a:rPr lang="en-US" sz="1600" dirty="0"/>
            </a:br>
            <a:r>
              <a:rPr lang="en-US" sz="1600" dirty="0"/>
              <a:t>↓</a:t>
            </a:r>
            <a:br>
              <a:rPr lang="en-US" sz="1600" dirty="0"/>
            </a:br>
            <a:r>
              <a:rPr lang="en-US" sz="1600" dirty="0"/>
              <a:t>Load</a:t>
            </a:r>
            <a:br>
              <a:rPr lang="en-US" sz="1600" dirty="0"/>
            </a:br>
            <a:r>
              <a:rPr lang="en-US" sz="1600" dirty="0"/>
              <a:t>↓</a:t>
            </a:r>
            <a:br>
              <a:rPr lang="en-US" sz="1600" dirty="0"/>
            </a:br>
            <a:r>
              <a:rPr lang="en-US" sz="1600" dirty="0"/>
              <a:t>Analytics</a:t>
            </a:r>
            <a:br>
              <a:rPr lang="en-US" sz="1600" dirty="0"/>
            </a:br>
            <a:r>
              <a:rPr lang="en-US" sz="1600" dirty="0"/>
              <a:t>↓</a:t>
            </a:r>
            <a:br>
              <a:rPr lang="en-US" sz="1600" dirty="0"/>
            </a:br>
            <a:r>
              <a:rPr lang="en-US" sz="1600" dirty="0"/>
              <a:t>Dashboard</a:t>
            </a:r>
          </a:p>
          <a:p>
            <a:endParaRPr lang="en-US" sz="1600" dirty="0"/>
          </a:p>
          <a:p>
            <a:r>
              <a:rPr lang="en-US" sz="1600" b="1" dirty="0"/>
              <a:t>ETL Activities</a:t>
            </a:r>
          </a:p>
          <a:p>
            <a:r>
              <a:rPr lang="en-US" sz="1600" dirty="0"/>
              <a:t>• Data ingestion using Python</a:t>
            </a:r>
            <a:br>
              <a:rPr lang="en-US" sz="1600" dirty="0"/>
            </a:br>
            <a:r>
              <a:rPr lang="en-US" sz="1600" dirty="0"/>
              <a:t>• Missing value handling</a:t>
            </a:r>
            <a:br>
              <a:rPr lang="en-US" sz="1600" dirty="0"/>
            </a:br>
            <a:r>
              <a:rPr lang="en-US" sz="1600" dirty="0"/>
              <a:t>• Data validation</a:t>
            </a:r>
            <a:br>
              <a:rPr lang="en-US" sz="1600" dirty="0"/>
            </a:br>
            <a:r>
              <a:rPr lang="en-US" sz="1600" dirty="0"/>
              <a:t>• Data standardization</a:t>
            </a:r>
            <a:br>
              <a:rPr lang="en-US" sz="1600" dirty="0"/>
            </a:br>
            <a:r>
              <a:rPr lang="en-US" sz="1600" dirty="0"/>
              <a:t>• Feature engineering</a:t>
            </a:r>
            <a:br>
              <a:rPr lang="en-US" sz="1600" dirty="0"/>
            </a:br>
            <a:r>
              <a:rPr lang="en-US" sz="1600" dirty="0"/>
              <a:t>• SQLite database loading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14740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78BACD-8FE4-EC3F-C432-C6E57C18D595}"/>
              </a:ext>
            </a:extLst>
          </p:cNvPr>
          <p:cNvSpPr txBox="1"/>
          <p:nvPr/>
        </p:nvSpPr>
        <p:spPr>
          <a:xfrm>
            <a:off x="897193" y="984353"/>
            <a:ext cx="1070487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Database Design</a:t>
            </a:r>
          </a:p>
          <a:p>
            <a:r>
              <a:rPr lang="en-US" sz="3200" dirty="0"/>
              <a:t>Dimension Tables:</a:t>
            </a:r>
            <a:br>
              <a:rPr lang="en-US" sz="3200" dirty="0"/>
            </a:br>
            <a:r>
              <a:rPr lang="en-US" sz="3200" dirty="0"/>
              <a:t>• </a:t>
            </a:r>
            <a:r>
              <a:rPr lang="en-US" sz="3200" dirty="0" err="1"/>
              <a:t>dim_fund</a:t>
            </a:r>
            <a:br>
              <a:rPr lang="en-US" sz="3200" dirty="0"/>
            </a:br>
            <a:r>
              <a:rPr lang="en-US" sz="3200" dirty="0"/>
              <a:t>• </a:t>
            </a:r>
            <a:r>
              <a:rPr lang="en-US" sz="3200" dirty="0" err="1"/>
              <a:t>dim_date</a:t>
            </a:r>
            <a:endParaRPr lang="en-US" sz="3200" dirty="0"/>
          </a:p>
          <a:p>
            <a:r>
              <a:rPr lang="en-US" sz="3200" dirty="0"/>
              <a:t>Fact Tables:</a:t>
            </a:r>
            <a:br>
              <a:rPr lang="en-US" sz="3200" dirty="0"/>
            </a:br>
            <a:r>
              <a:rPr lang="en-US" sz="3200" dirty="0"/>
              <a:t>• </a:t>
            </a:r>
            <a:r>
              <a:rPr lang="en-US" sz="3200" dirty="0" err="1"/>
              <a:t>fact_nav</a:t>
            </a:r>
            <a:br>
              <a:rPr lang="en-US" sz="3200" dirty="0"/>
            </a:br>
            <a:r>
              <a:rPr lang="en-US" sz="3200" dirty="0"/>
              <a:t>• </a:t>
            </a:r>
            <a:r>
              <a:rPr lang="en-US" sz="3200" dirty="0" err="1"/>
              <a:t>fact_transactions</a:t>
            </a:r>
            <a:br>
              <a:rPr lang="en-US" sz="3200" dirty="0"/>
            </a:br>
            <a:r>
              <a:rPr lang="en-US" sz="3200" dirty="0"/>
              <a:t>• </a:t>
            </a:r>
            <a:r>
              <a:rPr lang="en-US" sz="3200" dirty="0" err="1"/>
              <a:t>fact_performance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36355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B7AA2A-16E3-0E2A-D819-F9D6402A7DD7}"/>
              </a:ext>
            </a:extLst>
          </p:cNvPr>
          <p:cNvSpPr txBox="1"/>
          <p:nvPr/>
        </p:nvSpPr>
        <p:spPr>
          <a:xfrm>
            <a:off x="248265" y="942482"/>
            <a:ext cx="610091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EDA Highlights – NAV &amp; AUM Analysis</a:t>
            </a:r>
          </a:p>
          <a:p>
            <a:pPr>
              <a:buNone/>
            </a:pPr>
            <a:r>
              <a:rPr lang="en-US" sz="2400" b="1" dirty="0"/>
              <a:t>NAV Trend Analysis</a:t>
            </a:r>
          </a:p>
          <a:p>
            <a:pPr>
              <a:buNone/>
            </a:pPr>
            <a:r>
              <a:rPr lang="en-US" sz="2400" dirty="0"/>
              <a:t>Observations:</a:t>
            </a:r>
          </a:p>
          <a:p>
            <a:pPr>
              <a:buNone/>
            </a:pPr>
            <a:r>
              <a:rPr lang="en-US" sz="2400" dirty="0"/>
              <a:t>• Consistent NAV growth from 2022–2026.</a:t>
            </a:r>
            <a:br>
              <a:rPr lang="en-US" sz="2400" dirty="0"/>
            </a:br>
            <a:r>
              <a:rPr lang="en-US" sz="2400" dirty="0"/>
              <a:t>• Strong recovery after market corrections.</a:t>
            </a:r>
            <a:br>
              <a:rPr lang="en-US" sz="2400" dirty="0"/>
            </a:br>
            <a:r>
              <a:rPr lang="en-US" sz="2400" dirty="0"/>
              <a:t>• Large-cap funds showed lower volatility.</a:t>
            </a:r>
          </a:p>
          <a:p>
            <a:pPr>
              <a:buNone/>
            </a:pPr>
            <a:r>
              <a:rPr lang="en-US" sz="2400" b="1" dirty="0"/>
              <a:t>AUM Analysis</a:t>
            </a:r>
          </a:p>
          <a:p>
            <a:pPr>
              <a:buNone/>
            </a:pPr>
            <a:r>
              <a:rPr lang="en-US" sz="2400" dirty="0"/>
              <a:t>Observations:</a:t>
            </a:r>
          </a:p>
          <a:p>
            <a:pPr>
              <a:buNone/>
            </a:pPr>
            <a:r>
              <a:rPr lang="en-US" sz="2400" dirty="0"/>
              <a:t>• SBI Mutual Fund maintained highest AUM.</a:t>
            </a:r>
            <a:br>
              <a:rPr lang="en-US" sz="2400" dirty="0"/>
            </a:br>
            <a:r>
              <a:rPr lang="en-US" sz="2400" dirty="0"/>
              <a:t>• HDFC and ICICI Prudential followed closely.</a:t>
            </a:r>
            <a:br>
              <a:rPr lang="en-US" sz="2400" dirty="0"/>
            </a:br>
            <a:r>
              <a:rPr lang="en-US" sz="2400" dirty="0"/>
              <a:t>• Industry AUM showed continuous expansion.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0DF075-5783-AA48-0560-6D3046A56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266" y="125668"/>
            <a:ext cx="5362568" cy="2499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A7632F-5782-7154-B540-950143663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139" y="2981809"/>
            <a:ext cx="5362695" cy="293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949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5B3DC4-B77A-52FB-33E2-2F096C2B7C8C}"/>
              </a:ext>
            </a:extLst>
          </p:cNvPr>
          <p:cNvSpPr txBox="1"/>
          <p:nvPr/>
        </p:nvSpPr>
        <p:spPr>
          <a:xfrm>
            <a:off x="149942" y="166581"/>
            <a:ext cx="667364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EDA Highlights – SIP &amp; Investor Analytics</a:t>
            </a:r>
          </a:p>
          <a:p>
            <a:pPr>
              <a:buNone/>
            </a:pPr>
            <a:r>
              <a:rPr lang="en-US" sz="2400" b="1" dirty="0"/>
              <a:t>SIP Trend Analysis</a:t>
            </a:r>
          </a:p>
          <a:p>
            <a:pPr>
              <a:buNone/>
            </a:pPr>
            <a:r>
              <a:rPr lang="en-US" sz="2400" dirty="0"/>
              <a:t>Findings:</a:t>
            </a:r>
          </a:p>
          <a:p>
            <a:pPr>
              <a:buNone/>
            </a:pPr>
            <a:r>
              <a:rPr lang="en-US" sz="2400" dirty="0"/>
              <a:t>• SIP inflows increased steadily.</a:t>
            </a:r>
            <a:br>
              <a:rPr lang="en-US" sz="2400" dirty="0"/>
            </a:br>
            <a:r>
              <a:rPr lang="en-US" sz="2400" dirty="0"/>
              <a:t>• December 2025 crossed ₹31,002 Cr milestone.</a:t>
            </a:r>
          </a:p>
          <a:p>
            <a:pPr>
              <a:buNone/>
            </a:pPr>
            <a:r>
              <a:rPr lang="en-US" sz="2400" b="1" dirty="0"/>
              <a:t>Investor Demographics</a:t>
            </a:r>
          </a:p>
          <a:p>
            <a:pPr>
              <a:buNone/>
            </a:pPr>
            <a:r>
              <a:rPr lang="en-US" sz="2400" dirty="0"/>
              <a:t>Findings:</a:t>
            </a:r>
          </a:p>
          <a:p>
            <a:pPr>
              <a:buNone/>
            </a:pPr>
            <a:r>
              <a:rPr lang="en-US" sz="2400" dirty="0"/>
              <a:t>• 26–35 age group contributed most investments.</a:t>
            </a:r>
            <a:br>
              <a:rPr lang="en-US" sz="2400" dirty="0"/>
            </a:br>
            <a:r>
              <a:rPr lang="en-US" sz="2400" dirty="0"/>
              <a:t>• SIP is the dominant investment mode.</a:t>
            </a:r>
            <a:br>
              <a:rPr lang="en-US" sz="2400" dirty="0"/>
            </a:br>
            <a:r>
              <a:rPr lang="en-US" sz="2400" dirty="0"/>
              <a:t>• T30 cities contribute majority investment volume.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61FE7B-B466-7752-64A9-33148A82F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562" y="166581"/>
            <a:ext cx="5363496" cy="26663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6AE2A6-ECA2-A84C-3122-1A3F327C6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75" y="4025061"/>
            <a:ext cx="5029200" cy="26663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AB2633-D571-A3D4-C1D9-EEA5373EC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564" y="4025061"/>
            <a:ext cx="5693494" cy="266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1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360A19-524F-9C2A-DC6B-64D3A57DAAC4}"/>
              </a:ext>
            </a:extLst>
          </p:cNvPr>
          <p:cNvSpPr txBox="1"/>
          <p:nvPr/>
        </p:nvSpPr>
        <p:spPr>
          <a:xfrm>
            <a:off x="199102" y="94363"/>
            <a:ext cx="880724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Performance Analytics</a:t>
            </a:r>
          </a:p>
          <a:p>
            <a:pPr>
              <a:buNone/>
            </a:pPr>
            <a:r>
              <a:rPr lang="en-US" sz="2400" b="1" dirty="0"/>
              <a:t>Key Performance Metrics</a:t>
            </a:r>
          </a:p>
          <a:p>
            <a:pPr>
              <a:buNone/>
            </a:pPr>
            <a:r>
              <a:rPr lang="en-US" sz="2400" dirty="0"/>
              <a:t>Calculated:</a:t>
            </a:r>
          </a:p>
          <a:p>
            <a:pPr>
              <a:buNone/>
            </a:pPr>
            <a:r>
              <a:rPr lang="en-US" sz="2400" dirty="0"/>
              <a:t>• CAGR</a:t>
            </a:r>
            <a:br>
              <a:rPr lang="en-US" sz="2400" dirty="0"/>
            </a:br>
            <a:r>
              <a:rPr lang="en-US" sz="2400" dirty="0"/>
              <a:t>• Annualized Returns</a:t>
            </a:r>
            <a:br>
              <a:rPr lang="en-US" sz="2400" dirty="0"/>
            </a:br>
            <a:r>
              <a:rPr lang="en-US" sz="2400" dirty="0"/>
              <a:t>• Sharpe Ratio</a:t>
            </a:r>
            <a:br>
              <a:rPr lang="en-US" sz="2400" dirty="0"/>
            </a:br>
            <a:r>
              <a:rPr lang="en-US" sz="2400" dirty="0"/>
              <a:t>• Sortino Ratio</a:t>
            </a:r>
            <a:br>
              <a:rPr lang="en-US" sz="2400" dirty="0"/>
            </a:br>
            <a:r>
              <a:rPr lang="en-US" sz="2400" dirty="0"/>
              <a:t>• Alpha</a:t>
            </a:r>
            <a:br>
              <a:rPr lang="en-US" sz="2400" dirty="0"/>
            </a:br>
            <a:r>
              <a:rPr lang="en-US" sz="2400" dirty="0"/>
              <a:t>• Beta</a:t>
            </a:r>
            <a:br>
              <a:rPr lang="en-US" sz="2400" dirty="0"/>
            </a:br>
            <a:r>
              <a:rPr lang="en-US" sz="2400" dirty="0"/>
              <a:t>• Standard Deviation</a:t>
            </a:r>
            <a:br>
              <a:rPr lang="en-US" sz="2400" dirty="0"/>
            </a:br>
            <a:r>
              <a:rPr lang="en-US" sz="2400" dirty="0"/>
              <a:t>• Maximum Drawdown</a:t>
            </a:r>
          </a:p>
          <a:p>
            <a:pPr>
              <a:buNone/>
            </a:pPr>
            <a:r>
              <a:rPr lang="en-US" sz="2400" b="1" dirty="0"/>
              <a:t>Objective</a:t>
            </a:r>
          </a:p>
          <a:p>
            <a:pPr>
              <a:buNone/>
            </a:pPr>
            <a:r>
              <a:rPr lang="en-US" sz="2400" dirty="0"/>
              <a:t>Measure risk-adjusted fund performance and benchmark comparison.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9D7772-B1B6-533E-0ECA-7684E89D0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984" y="498981"/>
            <a:ext cx="6980914" cy="349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631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BD5131-CD21-316E-607D-AE227CA19FA9}"/>
              </a:ext>
            </a:extLst>
          </p:cNvPr>
          <p:cNvSpPr txBox="1"/>
          <p:nvPr/>
        </p:nvSpPr>
        <p:spPr>
          <a:xfrm>
            <a:off x="336755" y="527831"/>
            <a:ext cx="610091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Fund Scorecard &amp; Benchmark Analysis</a:t>
            </a:r>
          </a:p>
          <a:p>
            <a:pPr>
              <a:buNone/>
            </a:pPr>
            <a:r>
              <a:rPr lang="en-US" sz="2400" b="1" dirty="0"/>
              <a:t>Fund Scoring Model</a:t>
            </a:r>
          </a:p>
          <a:p>
            <a:pPr>
              <a:buNone/>
            </a:pPr>
            <a:r>
              <a:rPr lang="en-US" sz="2400" dirty="0"/>
              <a:t>Composite Score Components</a:t>
            </a:r>
          </a:p>
          <a:p>
            <a:pPr>
              <a:buNone/>
            </a:pPr>
            <a:r>
              <a:rPr lang="en-US" sz="2400" dirty="0"/>
              <a:t>• 30% Return Rank</a:t>
            </a:r>
            <a:br>
              <a:rPr lang="en-US" sz="2400" dirty="0"/>
            </a:br>
            <a:r>
              <a:rPr lang="en-US" sz="2400" dirty="0"/>
              <a:t>• 25% Sharpe Rank</a:t>
            </a:r>
            <a:br>
              <a:rPr lang="en-US" sz="2400" dirty="0"/>
            </a:br>
            <a:r>
              <a:rPr lang="en-US" sz="2400" dirty="0"/>
              <a:t>• 20% Alpha Rank</a:t>
            </a:r>
            <a:br>
              <a:rPr lang="en-US" sz="2400" dirty="0"/>
            </a:br>
            <a:r>
              <a:rPr lang="en-US" sz="2400" dirty="0"/>
              <a:t>• 15% Expense Ratio Rank</a:t>
            </a:r>
            <a:br>
              <a:rPr lang="en-US" sz="2400" dirty="0"/>
            </a:br>
            <a:r>
              <a:rPr lang="en-US" sz="2400" dirty="0"/>
              <a:t>• 10% Drawdown Rank</a:t>
            </a:r>
          </a:p>
          <a:p>
            <a:pPr>
              <a:buNone/>
            </a:pPr>
            <a:r>
              <a:rPr lang="en-US" sz="2400" b="1" dirty="0"/>
              <a:t>Benchmark Comparison</a:t>
            </a:r>
          </a:p>
          <a:p>
            <a:pPr>
              <a:buNone/>
            </a:pPr>
            <a:r>
              <a:rPr lang="en-US" sz="2400" dirty="0"/>
              <a:t>Compared Against:</a:t>
            </a:r>
          </a:p>
          <a:p>
            <a:pPr>
              <a:buNone/>
            </a:pPr>
            <a:r>
              <a:rPr lang="en-US" sz="2400" dirty="0"/>
              <a:t>• Nifty 50</a:t>
            </a:r>
            <a:br>
              <a:rPr lang="en-US" sz="2400" dirty="0"/>
            </a:br>
            <a:r>
              <a:rPr lang="en-US" sz="2400" dirty="0"/>
              <a:t>• Nifty 100</a:t>
            </a:r>
            <a:br>
              <a:rPr lang="en-US" sz="2400" dirty="0"/>
            </a:br>
            <a:r>
              <a:rPr lang="en-US" sz="2400" dirty="0"/>
              <a:t>• BSE SmallCap</a:t>
            </a:r>
          </a:p>
        </p:txBody>
      </p:sp>
    </p:spTree>
    <p:extLst>
      <p:ext uri="{BB962C8B-B14F-4D97-AF65-F5344CB8AC3E}">
        <p14:creationId xmlns:p14="http://schemas.microsoft.com/office/powerpoint/2010/main" val="3961212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D43F35-2BAC-2A34-5EA2-520792B08EE8}"/>
              </a:ext>
            </a:extLst>
          </p:cNvPr>
          <p:cNvSpPr txBox="1"/>
          <p:nvPr/>
        </p:nvSpPr>
        <p:spPr>
          <a:xfrm>
            <a:off x="336755" y="575296"/>
            <a:ext cx="610091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Dashboard – Industry Overview</a:t>
            </a:r>
          </a:p>
          <a:p>
            <a:pPr>
              <a:buNone/>
            </a:pPr>
            <a:r>
              <a:rPr lang="en-US" sz="2400" b="1" dirty="0"/>
              <a:t>Dashboard Features</a:t>
            </a:r>
          </a:p>
          <a:p>
            <a:pPr>
              <a:buNone/>
            </a:pPr>
            <a:r>
              <a:rPr lang="en-US" sz="2400" dirty="0"/>
              <a:t>KPIs:</a:t>
            </a:r>
          </a:p>
          <a:p>
            <a:pPr>
              <a:buNone/>
            </a:pPr>
            <a:r>
              <a:rPr lang="en-US" sz="2400" dirty="0"/>
              <a:t>• Total Industry AUM</a:t>
            </a:r>
            <a:br>
              <a:rPr lang="en-US" sz="2400" dirty="0"/>
            </a:br>
            <a:r>
              <a:rPr lang="en-US" sz="2400" dirty="0"/>
              <a:t>• SIP Inflows</a:t>
            </a:r>
            <a:br>
              <a:rPr lang="en-US" sz="2400" dirty="0"/>
            </a:br>
            <a:r>
              <a:rPr lang="en-US" sz="2400" dirty="0"/>
              <a:t>• Folio Count</a:t>
            </a:r>
            <a:br>
              <a:rPr lang="en-US" sz="2400" dirty="0"/>
            </a:br>
            <a:r>
              <a:rPr lang="en-US" sz="2400" dirty="0"/>
              <a:t>• Total Schemes</a:t>
            </a:r>
          </a:p>
          <a:p>
            <a:pPr>
              <a:buNone/>
            </a:pPr>
            <a:r>
              <a:rPr lang="en-US" sz="2400" dirty="0"/>
              <a:t>Visualizations:</a:t>
            </a:r>
          </a:p>
          <a:p>
            <a:pPr>
              <a:buNone/>
            </a:pPr>
            <a:r>
              <a:rPr lang="en-US" sz="2400" dirty="0"/>
              <a:t>• AUM Trend</a:t>
            </a:r>
            <a:br>
              <a:rPr lang="en-US" sz="2400" dirty="0"/>
            </a:br>
            <a:r>
              <a:rPr lang="en-US" sz="2400" dirty="0"/>
              <a:t>• Top Fund Houses</a:t>
            </a:r>
            <a:br>
              <a:rPr lang="en-US" sz="2400" dirty="0"/>
            </a:br>
            <a:r>
              <a:rPr lang="en-US" sz="2400" dirty="0"/>
              <a:t>• Industry Growth</a:t>
            </a:r>
          </a:p>
          <a:p>
            <a:pPr>
              <a:buNone/>
            </a:pPr>
            <a:r>
              <a:rPr lang="en-US" sz="2400" dirty="0"/>
              <a:t>Filters:</a:t>
            </a:r>
          </a:p>
          <a:p>
            <a:pPr>
              <a:buNone/>
            </a:pPr>
            <a:r>
              <a:rPr lang="en-US" sz="2400" dirty="0"/>
              <a:t>• Fund House</a:t>
            </a:r>
            <a:br>
              <a:rPr lang="en-US" sz="2400" dirty="0"/>
            </a:br>
            <a:r>
              <a:rPr lang="en-US" sz="2400" dirty="0"/>
              <a:t>• Category</a:t>
            </a:r>
            <a:br>
              <a:rPr lang="en-US" sz="2400" dirty="0"/>
            </a:br>
            <a:r>
              <a:rPr lang="en-US" sz="2400" dirty="0"/>
              <a:t>• Date Range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165E8B-0CA8-1490-1B32-675CCFED0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398" y="1124627"/>
            <a:ext cx="7788519" cy="48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783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AF561D-764E-7E54-1279-6D9C3BB10E53}"/>
              </a:ext>
            </a:extLst>
          </p:cNvPr>
          <p:cNvSpPr txBox="1"/>
          <p:nvPr/>
        </p:nvSpPr>
        <p:spPr>
          <a:xfrm>
            <a:off x="267928" y="320505"/>
            <a:ext cx="681129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Dashboard – Investor &amp; Performance Analytics</a:t>
            </a:r>
          </a:p>
          <a:p>
            <a:pPr>
              <a:buNone/>
            </a:pPr>
            <a:r>
              <a:rPr lang="en-US" sz="2400" b="1" dirty="0"/>
              <a:t>Dashboard Features</a:t>
            </a:r>
          </a:p>
          <a:p>
            <a:pPr>
              <a:buNone/>
            </a:pPr>
            <a:r>
              <a:rPr lang="en-US" sz="2400" dirty="0"/>
              <a:t>Investor Analysis</a:t>
            </a:r>
          </a:p>
          <a:p>
            <a:pPr>
              <a:buNone/>
            </a:pPr>
            <a:r>
              <a:rPr lang="en-US" sz="2400" dirty="0"/>
              <a:t>• State-wise Investments</a:t>
            </a:r>
            <a:br>
              <a:rPr lang="en-US" sz="2400" dirty="0"/>
            </a:br>
            <a:r>
              <a:rPr lang="en-US" sz="2400" dirty="0"/>
              <a:t>• Age Group Analysis</a:t>
            </a:r>
            <a:br>
              <a:rPr lang="en-US" sz="2400" dirty="0"/>
            </a:br>
            <a:r>
              <a:rPr lang="en-US" sz="2400" dirty="0"/>
              <a:t>• SIP vs Redemption</a:t>
            </a:r>
          </a:p>
          <a:p>
            <a:pPr>
              <a:buNone/>
            </a:pPr>
            <a:r>
              <a:rPr lang="en-US" sz="2400" dirty="0"/>
              <a:t>Performance Analysis</a:t>
            </a:r>
          </a:p>
          <a:p>
            <a:pPr>
              <a:buNone/>
            </a:pPr>
            <a:r>
              <a:rPr lang="en-US" sz="2400" dirty="0"/>
              <a:t>• Fund Ranking</a:t>
            </a:r>
            <a:br>
              <a:rPr lang="en-US" sz="2400" dirty="0"/>
            </a:br>
            <a:r>
              <a:rPr lang="en-US" sz="2400" dirty="0"/>
              <a:t>• Benchmark Comparison</a:t>
            </a:r>
            <a:br>
              <a:rPr lang="en-US" sz="2400" dirty="0"/>
            </a:br>
            <a:r>
              <a:rPr lang="en-US" sz="2400" dirty="0"/>
              <a:t>• Risk Metrics</a:t>
            </a:r>
          </a:p>
          <a:p>
            <a:pPr>
              <a:buNone/>
            </a:pPr>
            <a:r>
              <a:rPr lang="en-US" sz="2400" dirty="0"/>
              <a:t>Interactive Filters</a:t>
            </a:r>
          </a:p>
          <a:p>
            <a:pPr>
              <a:buNone/>
            </a:pPr>
            <a:r>
              <a:rPr lang="en-US" sz="2400" dirty="0"/>
              <a:t>• State</a:t>
            </a:r>
            <a:br>
              <a:rPr lang="en-US" sz="2400" dirty="0"/>
            </a:br>
            <a:r>
              <a:rPr lang="en-US" sz="2400" dirty="0"/>
              <a:t>• Category</a:t>
            </a:r>
            <a:br>
              <a:rPr lang="en-US" sz="2400" dirty="0"/>
            </a:br>
            <a:r>
              <a:rPr lang="en-US" sz="2400" dirty="0"/>
              <a:t>• Fund House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47C3BB-9B27-85EF-DE41-D6D57423F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787" y="147484"/>
            <a:ext cx="4191285" cy="25649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74E8C0-2C43-33EB-F7EE-DD26D6304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656" y="3001989"/>
            <a:ext cx="6461416" cy="370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45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ABEC64-3DCF-1735-DD85-046F6AB98971}"/>
              </a:ext>
            </a:extLst>
          </p:cNvPr>
          <p:cNvSpPr txBox="1"/>
          <p:nvPr/>
        </p:nvSpPr>
        <p:spPr>
          <a:xfrm>
            <a:off x="680883" y="518340"/>
            <a:ext cx="1000678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Key Findings &amp; Recommendations</a:t>
            </a:r>
          </a:p>
          <a:p>
            <a:r>
              <a:rPr lang="en-US" sz="2400" b="1" dirty="0"/>
              <a:t> Key Findings</a:t>
            </a:r>
          </a:p>
          <a:p>
            <a:r>
              <a:rPr lang="en-US" sz="2400" dirty="0"/>
              <a:t> SIP inflows achieved record growth.</a:t>
            </a:r>
          </a:p>
          <a:p>
            <a:r>
              <a:rPr lang="en-US" sz="2400" dirty="0"/>
              <a:t> Large-cap funds showed stable performance.</a:t>
            </a:r>
          </a:p>
          <a:p>
            <a:r>
              <a:rPr lang="en-US" sz="2400" dirty="0"/>
              <a:t> SBI MF maintained highest AUM.</a:t>
            </a:r>
          </a:p>
          <a:p>
            <a:r>
              <a:rPr lang="en-US" sz="2400" dirty="0"/>
              <a:t> Younger investors dominate SIP participation.</a:t>
            </a:r>
          </a:p>
          <a:p>
            <a:r>
              <a:rPr lang="en-US" sz="2400" dirty="0"/>
              <a:t> Several schemes generated positive alpha.</a:t>
            </a:r>
          </a:p>
          <a:p>
            <a:r>
              <a:rPr lang="en-US" sz="2400" dirty="0"/>
              <a:t> Risk-adjusted metrics improved fund comparison.</a:t>
            </a:r>
          </a:p>
          <a:p>
            <a:r>
              <a:rPr lang="en-US" sz="2400" b="1" dirty="0"/>
              <a:t>Recommendations</a:t>
            </a:r>
          </a:p>
          <a:p>
            <a:r>
              <a:rPr lang="en-US" sz="2400" dirty="0"/>
              <a:t>• Increase focus on SIP-based investors.</a:t>
            </a:r>
            <a:br>
              <a:rPr lang="en-US" sz="2400" dirty="0"/>
            </a:br>
            <a:r>
              <a:rPr lang="en-US" sz="2400" dirty="0"/>
              <a:t>• Expand digital investor engagement.</a:t>
            </a:r>
            <a:br>
              <a:rPr lang="en-US" sz="2400" dirty="0"/>
            </a:br>
            <a:r>
              <a:rPr lang="en-US" sz="2400" dirty="0"/>
              <a:t>• Monitor alpha-generating schemes.</a:t>
            </a:r>
            <a:br>
              <a:rPr lang="en-US" sz="2400" dirty="0"/>
            </a:br>
            <a:r>
              <a:rPr lang="en-US" sz="2400" dirty="0"/>
              <a:t>• Enhance portfolio diversification. </a:t>
            </a:r>
          </a:p>
        </p:txBody>
      </p:sp>
    </p:spTree>
    <p:extLst>
      <p:ext uri="{BB962C8B-B14F-4D97-AF65-F5344CB8AC3E}">
        <p14:creationId xmlns:p14="http://schemas.microsoft.com/office/powerpoint/2010/main" val="3076795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D11DFD-54DE-661E-4C8F-994B51D34EE8}"/>
              </a:ext>
            </a:extLst>
          </p:cNvPr>
          <p:cNvSpPr txBox="1"/>
          <p:nvPr/>
        </p:nvSpPr>
        <p:spPr>
          <a:xfrm>
            <a:off x="1939413" y="657347"/>
            <a:ext cx="852211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Conclusion &amp; Thank You</a:t>
            </a:r>
          </a:p>
          <a:p>
            <a:pPr>
              <a:buNone/>
            </a:pPr>
            <a:r>
              <a:rPr lang="en-US" sz="2800" b="1" dirty="0"/>
              <a:t>Project Outcomes</a:t>
            </a:r>
          </a:p>
          <a:p>
            <a:pPr>
              <a:buNone/>
            </a:pPr>
            <a:r>
              <a:rPr lang="en-US" sz="2800" dirty="0"/>
              <a:t>✔ Built complete ETL pipeline</a:t>
            </a:r>
          </a:p>
          <a:p>
            <a:pPr>
              <a:buNone/>
            </a:pPr>
            <a:r>
              <a:rPr lang="en-US" sz="2800" dirty="0"/>
              <a:t>✔ Developed analytical database</a:t>
            </a:r>
          </a:p>
          <a:p>
            <a:pPr>
              <a:buNone/>
            </a:pPr>
            <a:r>
              <a:rPr lang="en-US" sz="2800" dirty="0"/>
              <a:t>✔ Performed EDA</a:t>
            </a:r>
          </a:p>
          <a:p>
            <a:pPr>
              <a:buNone/>
            </a:pPr>
            <a:r>
              <a:rPr lang="en-US" sz="2800" dirty="0"/>
              <a:t>✔ Computed risk metrics</a:t>
            </a:r>
          </a:p>
          <a:p>
            <a:pPr>
              <a:buNone/>
            </a:pPr>
            <a:r>
              <a:rPr lang="en-US" sz="2800" dirty="0"/>
              <a:t>✔ Created interactive dashboard</a:t>
            </a:r>
          </a:p>
          <a:p>
            <a:pPr>
              <a:buNone/>
            </a:pPr>
            <a:r>
              <a:rPr lang="en-US" sz="2800" dirty="0"/>
              <a:t>✔ Generated business insights</a:t>
            </a:r>
          </a:p>
          <a:p>
            <a:pPr>
              <a:buNone/>
            </a:pPr>
            <a:r>
              <a:rPr lang="en-US" sz="2800" b="1" dirty="0"/>
              <a:t>Technologies Used</a:t>
            </a:r>
          </a:p>
          <a:p>
            <a:pPr>
              <a:buNone/>
            </a:pPr>
            <a:r>
              <a:rPr lang="en-US" sz="2800" dirty="0"/>
              <a:t>Python | SQL | SQLite | Pandas | Plotly | Power BI</a:t>
            </a:r>
          </a:p>
        </p:txBody>
      </p:sp>
    </p:spTree>
    <p:extLst>
      <p:ext uri="{BB962C8B-B14F-4D97-AF65-F5344CB8AC3E}">
        <p14:creationId xmlns:p14="http://schemas.microsoft.com/office/powerpoint/2010/main" val="1752418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91FEC3-5620-BE75-2DCE-5D7C3B5A680E}"/>
              </a:ext>
            </a:extLst>
          </p:cNvPr>
          <p:cNvSpPr txBox="1"/>
          <p:nvPr/>
        </p:nvSpPr>
        <p:spPr>
          <a:xfrm>
            <a:off x="3719051" y="2612611"/>
            <a:ext cx="61009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6000" b="1" dirty="0"/>
              <a:t>Thank You !!</a:t>
            </a:r>
          </a:p>
        </p:txBody>
      </p:sp>
    </p:spTree>
    <p:extLst>
      <p:ext uri="{BB962C8B-B14F-4D97-AF65-F5344CB8AC3E}">
        <p14:creationId xmlns:p14="http://schemas.microsoft.com/office/powerpoint/2010/main" val="253924607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{52C0D717-CBE0-404D-AE21-C66DFF3961A1}TFc986dd65-aaf0-4d5c-bef9-9c391ee05f7b738e0fce-4a319d133af4</Template>
  <TotalTime>16</TotalTime>
  <Words>806</Words>
  <Application>Microsoft Office PowerPoint</Application>
  <PresentationFormat>Widescreen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Gallery</vt:lpstr>
      <vt:lpstr>Bluestock Mutual Fund Analytics Capstone Project </vt:lpstr>
      <vt:lpstr>Problem Statement &amp; Business Objective</vt:lpstr>
      <vt:lpstr>PowerPoint Presentation</vt:lpstr>
      <vt:lpstr>Investor Transactions Dataset SIP Lumpsum Redemption transactions Portfolio Holdings Dataset Sector allocations Portfolio concentration Benchmark Dataset NIFTY50 NIFTY100   Dataset Scale • 40 Mutual Fund Schemes • 1000+ Investor Transactions • Multi-year NAV History • Multiple Market Benchmarks   Speaker Notes: These datasets collectively provide a comprehensive view of the mutual fund ecosystem, allowing both investor-level and scheme-level analysis.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makarand patil</dc:creator>
  <cp:lastModifiedBy>makarand patil</cp:lastModifiedBy>
  <cp:revision>1</cp:revision>
  <dcterms:created xsi:type="dcterms:W3CDTF">2026-06-11T09:54:21Z</dcterms:created>
  <dcterms:modified xsi:type="dcterms:W3CDTF">2026-06-11T10:11:18Z</dcterms:modified>
</cp:coreProperties>
</file>